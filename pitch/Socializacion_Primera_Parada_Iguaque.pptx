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7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rop_wide_vibrant_realistic_outdoor_travel_road_scene_678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82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72200" y="0"/>
            <a:ext cx="91440" cy="6858000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84048"/>
            <a:ext cx="53949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MARATÓN DE INNOVACIÓN EN NARRATIVAS DIGITALES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394960" cy="2148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3100" b="1" i="0">
                <a:solidFill>
                  <a:srgbClr val="FFFFFA"/>
                </a:solidFill>
                <a:latin typeface="Aptos"/>
              </a:defRPr>
            </a:pPr>
            <a:r>
              <a:t>¿TUS DECISIONES</a:t>
            </a:r>
          </a:p>
          <a:p>
            <a:pPr algn="l">
              <a:spcAft>
                <a:spcPts val="400"/>
              </a:spcAft>
              <a:defRPr sz="3100" b="1" i="0">
                <a:solidFill>
                  <a:srgbClr val="FFFFFA"/>
                </a:solidFill>
                <a:latin typeface="Aptos"/>
              </a:defRPr>
            </a:pPr>
            <a:r>
              <a:t>PROTEGEN EL PAISAJE</a:t>
            </a:r>
          </a:p>
          <a:p>
            <a:pPr algn="l">
              <a:spcAft>
                <a:spcPts val="400"/>
              </a:spcAft>
              <a:defRPr sz="3100" b="1" i="0">
                <a:solidFill>
                  <a:srgbClr val="FFFFFA"/>
                </a:solidFill>
                <a:latin typeface="Aptos"/>
              </a:defRPr>
            </a:pPr>
            <a:r>
              <a:t>O LO PONEN EN RIESGO?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310128"/>
            <a:ext cx="52120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EDAE37"/>
                </a:solidFill>
                <a:latin typeface="Aptos"/>
              </a:defRPr>
            </a:pPr>
            <a:r>
              <a:t>PRÓXIMA PARADA: IGUAQUE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931920"/>
            <a:ext cx="50292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0" i="0">
                <a:solidFill>
                  <a:srgbClr val="FFFFFA"/>
                </a:solidFill>
                <a:latin typeface="Aptos"/>
              </a:defRPr>
            </a:pPr>
            <a:r>
              <a:t>Una experiencia web interactiva 360° para aprender a prevenir incendios de cobertura vegetal durante el viaje.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5074920"/>
            <a:ext cx="507492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1">
                <a:solidFill>
                  <a:srgbClr val="C3D4CA"/>
                </a:solidFill>
                <a:latin typeface="Aptos"/>
              </a:defRPr>
            </a:pPr>
            <a:r>
              <a:t>“En la vida hay muchas paradas. Lo que decides en el camino llega contigo a la próxima.”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172200"/>
            <a:ext cx="5303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FFFFFA"/>
                </a:solidFill>
                <a:latin typeface="Aptos"/>
              </a:defRPr>
            </a:pPr>
            <a:r>
              <a:t>CreaMente Digital  ·  ZCBOY  ·  CEAD Tunja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FFFFF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01 · LA NECESIDAD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082721"/>
                </a:solidFill>
                <a:latin typeface="Aptos"/>
              </a:defRPr>
            </a:pPr>
            <a:r>
              <a:t>Boyacá necesita prevención que se recuerde y se practique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E6C63"/>
                </a:solidFill>
                <a:latin typeface="Aptos"/>
              </a:defRPr>
            </a:pPr>
            <a:r>
              <a:t>Tres cifras sitúan el reto en el territorio y en el lugar al que invita el recorrido.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901952"/>
            <a:ext cx="3493008" cy="1874519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901952"/>
            <a:ext cx="3493008" cy="91440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EDAE37"/>
                </a:solidFill>
                <a:latin typeface="Aptos"/>
              </a:defRPr>
            </a:pPr>
            <a:r>
              <a:t>2.317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9504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F28"/>
                </a:solidFill>
                <a:latin typeface="Aptos"/>
              </a:defRPr>
            </a:pPr>
            <a:r>
              <a:t>incendios de cobertura vegetal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1F2F28"/>
                </a:solidFill>
                <a:latin typeface="Aptos"/>
              </a:defRPr>
            </a:pPr>
            <a:r>
              <a:t>en Boyacá · 2019–2025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3" y="1901952"/>
            <a:ext cx="3493008" cy="1874519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3983" y="1901952"/>
            <a:ext cx="3493008" cy="91440"/>
          </a:xfrm>
          <a:prstGeom prst="rect">
            <a:avLst/>
          </a:prstGeom>
          <a:solidFill>
            <a:srgbClr val="195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1" y="2258568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195946"/>
                </a:solidFill>
                <a:latin typeface="Aptos"/>
              </a:defRPr>
            </a:pPr>
            <a:r>
              <a:t>32.394 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1" y="2889504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F28"/>
                </a:solidFill>
                <a:latin typeface="Aptos"/>
              </a:defRPr>
            </a:pPr>
            <a:r>
              <a:t>área afectada estimada en Boyacá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1F2F28"/>
                </a:solidFill>
                <a:latin typeface="Aptos"/>
              </a:defRPr>
            </a:pPr>
            <a:r>
              <a:t>en el mismo periodo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901952"/>
            <a:ext cx="3493008" cy="1874519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66175" y="1901952"/>
            <a:ext cx="3493008" cy="91440"/>
          </a:xfrm>
          <a:prstGeom prst="rect">
            <a:avLst/>
          </a:prstGeom>
          <a:solidFill>
            <a:srgbClr val="B0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2258568"/>
            <a:ext cx="30632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900" b="1" i="0">
                <a:solidFill>
                  <a:srgbClr val="B04131"/>
                </a:solidFill>
                <a:latin typeface="Aptos"/>
              </a:defRPr>
            </a:pPr>
            <a:r>
              <a:t>1.340 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344" y="2889504"/>
            <a:ext cx="30175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F28"/>
                </a:solidFill>
                <a:latin typeface="Aptos"/>
              </a:defRPr>
            </a:pPr>
            <a:r>
              <a:t>afectación preliminar del incendio</a:t>
            </a:r>
          </a:p>
          <a:p>
            <a:pPr algn="l">
              <a:spcAft>
                <a:spcPts val="400"/>
              </a:spcAft>
              <a:defRPr sz="1500" b="0" i="0">
                <a:solidFill>
                  <a:srgbClr val="1F2F28"/>
                </a:solidFill>
                <a:latin typeface="Aptos"/>
              </a:defRPr>
            </a:pPr>
            <a:r>
              <a:t>que alcanzó Iguaque · sep. 2026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4142232"/>
            <a:ext cx="10936224" cy="1234440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EDAE37"/>
                </a:solidFill>
                <a:latin typeface="Aptos"/>
              </a:defRPr>
            </a:pPr>
            <a:r>
              <a:t>¿POR QUÉ IMPORTA?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315968"/>
            <a:ext cx="83667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0" i="0">
                <a:solidFill>
                  <a:srgbClr val="FFFFFA"/>
                </a:solidFill>
                <a:latin typeface="Aptos"/>
              </a:defRPr>
            </a:pPr>
            <a:r>
              <a:t>Con El Niño disminuyen las lluvias y aumenta el riesgo de incendios. La prevención empieza con decisiones cotidianas y con reportar señales de fuego.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650992"/>
            <a:ext cx="108813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900" b="0" i="0">
                <a:solidFill>
                  <a:srgbClr val="5E6C63"/>
                </a:solidFill>
                <a:latin typeface="Aptos"/>
              </a:defRPr>
            </a:pPr>
            <a:r>
              <a:t>Fuentes de referencia consignadas en los insumos del proyecto: registros UNGRD y Corpoboyacá para el consolidado 2019–2025; Gobernación de Boyacá/UNGRD citados por RTVC Noticias, 23 sep. 2026. La afectación de Iguaque es preliminar y la causa se reportó bajo investigación.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E6C63"/>
                </a:solidFill>
                <a:latin typeface="Aptos"/>
              </a:defRPr>
            </a:pPr>
            <a:r>
              <a:t>CREAMENTE DIGITAL  •  ZCBOY  •  CEAD TUNJA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EDAE37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02 · LA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FFFFA"/>
                </a:solidFill>
                <a:latin typeface="Aptos"/>
              </a:defRPr>
            </a:pPr>
            <a:r>
              <a:t>Convertimos el viaje en una experiencia de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C3D4CA"/>
                </a:solidFill>
                <a:latin typeface="Aptos"/>
              </a:defRPr>
            </a:pPr>
            <a:r>
              <a:t>El usuario no solo recibe una advertencia: elige y observa cómo cambia el territorio.</a:t>
            </a:r>
          </a:p>
        </p:txBody>
      </p:sp>
      <p:pic>
        <p:nvPicPr>
          <p:cNvPr id="5" name="Picture 4" descr="_crop_image(20261008-035039)_300x4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2743200" cy="4251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03320" y="1755648"/>
            <a:ext cx="2423160" cy="1353312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03320" y="1755648"/>
            <a:ext cx="73152" cy="1353312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1920240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FFFFA"/>
                </a:solidFill>
                <a:latin typeface="Aptos"/>
              </a:defRPr>
            </a:pPr>
            <a:r>
              <a:t>QUÉ 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322576"/>
            <a:ext cx="2039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C3D4CA"/>
                </a:solidFill>
                <a:latin typeface="Aptos"/>
              </a:defRPr>
            </a:pPr>
            <a:r>
              <a:t>Recorrido web interactivo 360° / realidad extendida.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792" y="1755648"/>
            <a:ext cx="2423160" cy="1353312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755648"/>
            <a:ext cx="73152" cy="1353312"/>
          </a:xfrm>
          <a:prstGeom prst="rect">
            <a:avLst/>
          </a:prstGeom>
          <a:solidFill>
            <a:srgbClr val="195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20240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FFFFA"/>
                </a:solidFill>
                <a:latin typeface="Aptos"/>
              </a:defRPr>
            </a:pPr>
            <a:r>
              <a:t>PARA QUIÉN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2322576"/>
            <a:ext cx="2039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C3D4CA"/>
                </a:solidFill>
                <a:latin typeface="Aptos"/>
              </a:defRPr>
            </a:pPr>
            <a:r>
              <a:t>Turistas de 18 a 35 años que visitan áreas naturales.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1755648"/>
            <a:ext cx="2423160" cy="1353312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70264" y="1755648"/>
            <a:ext cx="73152" cy="1353312"/>
          </a:xfrm>
          <a:prstGeom prst="rect">
            <a:avLst/>
          </a:prstGeom>
          <a:solidFill>
            <a:srgbClr val="B0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71432" y="1920240"/>
            <a:ext cx="2057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FFFFFA"/>
                </a:solidFill>
                <a:latin typeface="Aptos"/>
              </a:defRPr>
            </a:pPr>
            <a:r>
              <a:t>QUÉ LO DIFERENCIA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1432" y="2322576"/>
            <a:ext cx="2039112" cy="6949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C3D4CA"/>
                </a:solidFill>
                <a:latin typeface="Aptos"/>
              </a:defRPr>
            </a:pPr>
            <a:r>
              <a:t>Las decisiones cambian el puntaje y el estado visual del paisaje.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520440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EDAE37"/>
                </a:solidFill>
                <a:latin typeface="Aptos"/>
              </a:defRPr>
            </a:pPr>
            <a:r>
              <a:t>RUTA DEL VIAJE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4760" y="4133087"/>
            <a:ext cx="7223760" cy="45720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0480" y="39867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4507992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FFFA"/>
                </a:solidFill>
                <a:latin typeface="Aptos"/>
              </a:defRPr>
            </a:pPr>
            <a:r>
              <a:t>TUNJA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4846320"/>
            <a:ext cx="2286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C3D4CA"/>
                </a:solidFill>
                <a:latin typeface="Aptos"/>
              </a:defRPr>
            </a:pPr>
            <a:r>
              <a:t>Tienda local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39867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507992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FFFA"/>
                </a:solidFill>
                <a:latin typeface="Aptos"/>
              </a:defRPr>
            </a:pPr>
            <a:r>
              <a:t>CHÍQUIZA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2286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C3D4CA"/>
                </a:solidFill>
                <a:latin typeface="Aptos"/>
              </a:defRPr>
            </a:pPr>
            <a:r>
              <a:t>Parada en carretera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55480" y="3986784"/>
            <a:ext cx="310896" cy="310896"/>
          </a:xfrm>
          <a:prstGeom prst="roundRect">
            <a:avLst>
              <a:gd name="adj" fmla="val 8000"/>
            </a:avLst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59" y="4507992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FFFFFA"/>
                </a:solidFill>
                <a:latin typeface="Aptos"/>
              </a:defRPr>
            </a:pPr>
            <a:r>
              <a:t>IGUAQUE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59" y="4846320"/>
            <a:ext cx="2286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C3D4CA"/>
                </a:solidFill>
                <a:latin typeface="Aptos"/>
              </a:defRPr>
            </a:pPr>
            <a:r>
              <a:t>Santuario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30752" y="5532120"/>
            <a:ext cx="740664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FFFFA"/>
                </a:solidFill>
                <a:latin typeface="Aptos"/>
              </a:defRPr>
            </a:pPr>
            <a:r>
              <a:t>Funciona en el navegador de celular o computador; no requiere instalar una aplicación ni usar gafas VR. Necesita internet para cargar el contenido y reproducir el video.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C3D4CA"/>
                </a:solidFill>
                <a:latin typeface="Aptos"/>
              </a:defRPr>
            </a:pPr>
            <a:r>
              <a:t>CREAMENTE DIGITAL  •  ZCBOY  •  CEAD TUNJA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EDAE37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03 · PRIMERA PARADA · TUNJA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082721"/>
                </a:solidFill>
                <a:latin typeface="Aptos"/>
              </a:defRPr>
            </a:pPr>
            <a:r>
              <a:t>La prevención comienza antes de salir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E6C63"/>
                </a:solidFill>
                <a:latin typeface="Aptos"/>
              </a:defRPr>
            </a:pPr>
            <a:r>
              <a:t>La tienda local hace que las decisiones pequeñas se sientan cercanas y propias.</a:t>
            </a:r>
          </a:p>
        </p:txBody>
      </p:sp>
      <p:pic>
        <p:nvPicPr>
          <p:cNvPr id="5" name="Picture 4" descr="_crop_image(20261008-035100)_278x4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2542032" cy="4343400"/>
          </a:xfrm>
          <a:prstGeom prst="rect">
            <a:avLst/>
          </a:prstGeom>
        </p:spPr>
      </p:pic>
      <p:pic>
        <p:nvPicPr>
          <p:cNvPr id="6" name="Picture 5" descr="image(20261008-035937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1664208"/>
            <a:ext cx="2542032" cy="932688"/>
          </a:xfrm>
          <a:prstGeom prst="rect">
            <a:avLst/>
          </a:prstGeom>
        </p:spPr>
      </p:pic>
      <p:pic>
        <p:nvPicPr>
          <p:cNvPr id="7" name="Picture 6" descr="_crop_a_wide_detailed_realistic_warmly_lit_interior_s_278x35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761488"/>
            <a:ext cx="2542032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199632" y="1719072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719072"/>
            <a:ext cx="73152" cy="1051560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83664"/>
            <a:ext cx="4892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24437"/>
                </a:solidFill>
                <a:latin typeface="Aptos"/>
              </a:defRPr>
            </a:pPr>
            <a:r>
              <a:t>EL VIAJERO SE PREPARA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873752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El tendero saluda: “Buenas, sumercé. Bienvenido. ¿Cómo se llama?” La experiencia usa el nombre del viajero.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971800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971800"/>
            <a:ext cx="73152" cy="1051560"/>
          </a:xfrm>
          <a:prstGeom prst="rect">
            <a:avLst/>
          </a:prstGeom>
          <a:solidFill>
            <a:srgbClr val="195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36392"/>
            <a:ext cx="4892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24437"/>
                </a:solidFill>
                <a:latin typeface="Aptos"/>
              </a:defRPr>
            </a:pPr>
            <a:r>
              <a:t>CUATRO ELECCIONES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38728"/>
            <a:ext cx="4873752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Qué tomar, qué comer, qué plan hacer y cómo manejar los residuos.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4224528"/>
            <a:ext cx="5257800" cy="1051560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4224528"/>
            <a:ext cx="73152" cy="1051560"/>
          </a:xfrm>
          <a:prstGeom prst="rect">
            <a:avLst/>
          </a:prstGeom>
          <a:solidFill>
            <a:srgbClr val="B0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389120"/>
            <a:ext cx="4892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24437"/>
                </a:solidFill>
                <a:latin typeface="Aptos"/>
              </a:defRPr>
            </a:pPr>
            <a:r>
              <a:t>MENSAJE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91456"/>
            <a:ext cx="4873752" cy="39319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Preferir termo, lonchera, fruta y bolsa para residuos ayuda a evitar desechos y decisiones de mayor riesgo.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596128"/>
            <a:ext cx="5074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5E6C63"/>
                </a:solidFill>
                <a:latin typeface="Aptos"/>
              </a:defRPr>
            </a:pPr>
            <a:r>
              <a:t>Las opciones de la tienda afectan el puntaje según la elección; el recorrido permite aprender sin convertir el mensaje en una charla.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E6C63"/>
                </a:solidFill>
                <a:latin typeface="Aptos"/>
              </a:defRPr>
            </a:pPr>
            <a:r>
              <a:t>CREAMENTE DIGITAL  •  ZCBOY  •  CEAD TUNJA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EDAE3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04 · SEGUNDA ESCENA · BUS 3D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FFFFA"/>
                </a:solidFill>
                <a:latin typeface="Aptos"/>
              </a:defRPr>
            </a:pPr>
            <a:r>
              <a:t>Una botella convierte el trayecto en una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C3D4CA"/>
                </a:solidFill>
                <a:latin typeface="Aptos"/>
              </a:defRPr>
            </a:pPr>
            <a:r>
              <a:t>El usuario puede caminar por el bus y actuar frente a un residuo que cae.</a:t>
            </a:r>
          </a:p>
        </p:txBody>
      </p:sp>
      <p:pic>
        <p:nvPicPr>
          <p:cNvPr id="5" name="Picture 4" descr="_crop_image(20261008-035155)_270x4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2468880" cy="4370832"/>
          </a:xfrm>
          <a:prstGeom prst="rect">
            <a:avLst/>
          </a:prstGeom>
        </p:spPr>
      </p:pic>
      <p:pic>
        <p:nvPicPr>
          <p:cNvPr id="6" name="Picture 5" descr="_crop_image(20261008-035252)_270x47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1664208"/>
            <a:ext cx="2468880" cy="437083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53328" y="1719072"/>
            <a:ext cx="5440680" cy="987552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53328" y="1719072"/>
            <a:ext cx="73152" cy="987552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54496" y="1883664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FFFFA"/>
                </a:solidFill>
                <a:latin typeface="Aptos"/>
              </a:defRPr>
            </a:pPr>
            <a:r>
              <a:t>DEPOSITAR EN LA CANECA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286000"/>
            <a:ext cx="50566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C3D4CA"/>
                </a:solidFill>
                <a:latin typeface="Aptos"/>
              </a:defRPr>
            </a:pPr>
            <a:r>
              <a:t>+15 puntos · sin superar 100.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880360"/>
            <a:ext cx="5440680" cy="987552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53328" y="2880360"/>
            <a:ext cx="73152" cy="987552"/>
          </a:xfrm>
          <a:prstGeom prst="rect">
            <a:avLst/>
          </a:prstGeom>
          <a:solidFill>
            <a:srgbClr val="195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4496" y="3044952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FFFFA"/>
                </a:solidFill>
                <a:latin typeface="Aptos"/>
              </a:defRPr>
            </a:pPr>
            <a:r>
              <a:t>IGNORAR LA BOTELLA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4496" y="3447288"/>
            <a:ext cx="50566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C3D4CA"/>
                </a:solidFill>
                <a:latin typeface="Aptos"/>
              </a:defRPr>
            </a:pPr>
            <a:r>
              <a:t>−5 puntos.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4041648"/>
            <a:ext cx="5440680" cy="987552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53328" y="4041648"/>
            <a:ext cx="73152" cy="987552"/>
          </a:xfrm>
          <a:prstGeom prst="rect">
            <a:avLst/>
          </a:prstGeom>
          <a:solidFill>
            <a:srgbClr val="B0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4206240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FFFFFA"/>
                </a:solidFill>
                <a:latin typeface="Aptos"/>
              </a:defRPr>
            </a:pPr>
            <a:r>
              <a:t>ARROJARLA POR LA VENTANA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4608576"/>
            <a:ext cx="50566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C3D4CA"/>
                </a:solidFill>
                <a:latin typeface="Aptos"/>
              </a:defRPr>
            </a:pPr>
            <a:r>
              <a:t>−15 puntos.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413248"/>
            <a:ext cx="512064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FFFFFA"/>
                </a:solidFill>
                <a:latin typeface="Aptos"/>
              </a:defRPr>
            </a:pPr>
            <a:r>
              <a:t>La historia sucede en una ruta reconocible: carretera, árboles y animales en movimiento. La elección modifica el resultado, no solo el diálogo.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C3D4CA"/>
                </a:solidFill>
                <a:latin typeface="Aptos"/>
              </a:defRPr>
            </a:pPr>
            <a:r>
              <a:t>CREAMENTE DIGITAL  •  ZCBOY  •  CEAD TUNJA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EDAE37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05 · TERCERA PARADA · CERCA DE CHÍQUIZA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082721"/>
                </a:solidFill>
                <a:latin typeface="Aptos"/>
              </a:defRPr>
            </a:pPr>
            <a:r>
              <a:t>Reconocer una señal también es actuar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E6C63"/>
                </a:solidFill>
                <a:latin typeface="Aptos"/>
              </a:defRPr>
            </a:pPr>
            <a:r>
              <a:t>La experiencia propone dos conductas concretas: reportar señales de fuego y no abandonar residuos.</a:t>
            </a:r>
          </a:p>
        </p:txBody>
      </p:sp>
      <p:pic>
        <p:nvPicPr>
          <p:cNvPr id="5" name="Picture 4" descr="_crop_image(20261008-035535)_300x4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64208"/>
            <a:ext cx="2743200" cy="43708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703320" y="1719072"/>
            <a:ext cx="3657600" cy="1508760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03320" y="1719072"/>
            <a:ext cx="73152" cy="1508760"/>
          </a:xfrm>
          <a:prstGeom prst="rect">
            <a:avLst/>
          </a:prstGeom>
          <a:solidFill>
            <a:srgbClr val="B0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1883664"/>
            <a:ext cx="3291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24437"/>
                </a:solidFill>
                <a:latin typeface="Aptos"/>
              </a:defRPr>
            </a:pPr>
            <a:r>
              <a:t>SI OBSERVA UNA EMERGENCIA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04487" y="2286000"/>
            <a:ext cx="327355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Reporte al 123 o a Bomberos 119, según corresponda. No se acerque al fuego ni intente apagarlo sin capacitación.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1719072"/>
            <a:ext cx="3840480" cy="1508760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89520" y="1719072"/>
            <a:ext cx="73152" cy="1508760"/>
          </a:xfrm>
          <a:prstGeom prst="rect">
            <a:avLst/>
          </a:prstGeom>
          <a:solidFill>
            <a:srgbClr val="195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0688" y="1883664"/>
            <a:ext cx="3474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1" i="0">
                <a:solidFill>
                  <a:srgbClr val="124437"/>
                </a:solidFill>
                <a:latin typeface="Aptos"/>
              </a:defRPr>
            </a:pPr>
            <a:r>
              <a:t>SI ENCUENTRA UNA BOTELLA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0688" y="2286000"/>
            <a:ext cx="3456432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Recogerla de forma segura: +5 puntos. Dejarla en el piso: −50 puntos.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3675887"/>
            <a:ext cx="7726679" cy="1572768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3950208"/>
            <a:ext cx="72237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EDAE37"/>
                </a:solidFill>
                <a:latin typeface="Aptos"/>
              </a:defRPr>
            </a:pPr>
            <a:r>
              <a:t>LA PREVENCIÓN NO ES SOLO EVITAR HACER DAÑO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4407408"/>
            <a:ext cx="70866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FFFFFA"/>
                </a:solidFill>
                <a:latin typeface="Aptos"/>
              </a:defRPr>
            </a:pPr>
            <a:r>
              <a:t>También es actuar responsablemente cuando se detecta una posible emergencia y avisar por los canales correspondientes.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5596128"/>
            <a:ext cx="7635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5E6C63"/>
                </a:solidFill>
                <a:latin typeface="Aptos"/>
              </a:defRPr>
            </a:pPr>
            <a:r>
              <a:t>Línea gratuita UNGRD: 01-8000-113200  ·  Emergencias: 123  ·  Bomberos: 119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E6C63"/>
                </a:solidFill>
                <a:latin typeface="Aptos"/>
              </a:defRPr>
            </a:pPr>
            <a:r>
              <a:t>CREAMENTE DIGITAL  •  ZCBOY  •  CEAD TUNJA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EDAE37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7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06 · LLEGADA · SANTUARIO DE IGUAQUE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FFFFFA"/>
                </a:solidFill>
                <a:latin typeface="Aptos"/>
              </a:defRPr>
            </a:pPr>
            <a:r>
              <a:t>El paisaje refleja las decisiones acumuladas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C3D4CA"/>
                </a:solidFill>
                <a:latin typeface="Aptos"/>
              </a:defRPr>
            </a:pPr>
            <a:r>
              <a:t>La consecuencia visual es el diferencial central: el mismo territorio puede verse de tres maneras.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91640"/>
            <a:ext cx="3493008" cy="4069080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_crop_wide_high_resolution_landscape_photograph_of_a_hi_358x2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801368"/>
            <a:ext cx="3273552" cy="2176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7" y="418795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95946"/>
                </a:solidFill>
                <a:latin typeface="Aptos"/>
              </a:defRPr>
            </a:pPr>
            <a:r>
              <a:t>80–100 · CONSERVADO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681728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FFFFFA"/>
                </a:solidFill>
                <a:latin typeface="Aptos"/>
              </a:defRPr>
            </a:pPr>
            <a:r>
              <a:t>El paisaje permanece luminoso.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91640"/>
            <a:ext cx="3493008" cy="4069080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_crop_wide_scenic_outdoor_landscape_image_of_a_mountain_358x2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288" y="1801368"/>
            <a:ext cx="3273552" cy="2176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418795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EDAE37"/>
                </a:solidFill>
                <a:latin typeface="Aptos"/>
              </a:defRPr>
            </a:pPr>
            <a:r>
              <a:t>50–79 · EN RIESGO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681728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FFFFFA"/>
                </a:solidFill>
                <a:latin typeface="Aptos"/>
              </a:defRPr>
            </a:pPr>
            <a:r>
              <a:t>El paisaje pierde vitalidad.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691640"/>
            <a:ext cx="3493008" cy="4069080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_crop_wide_dramatic_landscape_scene_of_a_mountainous_wi_358x2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1801368"/>
            <a:ext cx="3273552" cy="21762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85632" y="4187952"/>
            <a:ext cx="31089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B04131"/>
                </a:solidFill>
                <a:latin typeface="Aptos"/>
              </a:defRPr>
            </a:pPr>
            <a:r>
              <a:t>0–49 · AFECTADO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4681728"/>
            <a:ext cx="30632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FFFFFA"/>
                </a:solidFill>
                <a:latin typeface="Aptos"/>
              </a:defRPr>
            </a:pPr>
            <a:r>
              <a:t>Se muestra un escenario de impacto.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5989320"/>
            <a:ext cx="10789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0" i="0">
                <a:solidFill>
                  <a:srgbClr val="C3D4CA"/>
                </a:solidFill>
                <a:latin typeface="Aptos"/>
              </a:defRPr>
            </a:pPr>
            <a:r>
              <a:t>Puntaje inicial: 100. Las decisiones modifican el resultado y el color del paisaje se apaga gradualmente cuando bajan los puntos. Paisajes ilustrativos, no fotografías documentales del Santuario.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C3D4CA"/>
                </a:solidFill>
                <a:latin typeface="Aptos"/>
              </a:defRPr>
            </a:pPr>
            <a:r>
              <a:t>CREAMENTE DIGITAL  •  ZCBOY  •  CEAD TUNJA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EDAE3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07 · 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082721"/>
                </a:solidFill>
                <a:latin typeface="Aptos"/>
              </a:defRPr>
            </a:pPr>
            <a:r>
              <a:t>Tres razones para recordar la experiencia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E6C63"/>
                </a:solidFill>
                <a:latin typeface="Aptos"/>
              </a:defRPr>
            </a:pPr>
            <a:r>
              <a:t>Funciones descritas en el prototipo y características de acceso.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91640"/>
            <a:ext cx="3493008" cy="1828800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91640"/>
            <a:ext cx="73152" cy="1828800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5623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24437"/>
                </a:solidFill>
                <a:latin typeface="Aptos"/>
              </a:defRPr>
            </a:pPr>
            <a:r>
              <a:t>TERRITORIO VIVO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58568"/>
            <a:ext cx="3108960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La ruta conecta Tunja, una parada cerca de Chíquiza y el Santuario de Iguaque; incluye expresiones locales como “sumercé”.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691640"/>
            <a:ext cx="3493008" cy="1828800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52544" y="1691640"/>
            <a:ext cx="73152" cy="1828800"/>
          </a:xfrm>
          <a:prstGeom prst="rect">
            <a:avLst/>
          </a:prstGeom>
          <a:solidFill>
            <a:srgbClr val="195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85623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24437"/>
                </a:solidFill>
                <a:latin typeface="Aptos"/>
              </a:defRPr>
            </a:pPr>
            <a:r>
              <a:t>DECISIONES CON EFECTO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258568"/>
            <a:ext cx="3108960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El usuario elige, recibe puntaje y observa un estado del paisaje: conservado, en riesgo o afectado.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91640"/>
            <a:ext cx="3493008" cy="1828800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91640"/>
            <a:ext cx="73152" cy="1828800"/>
          </a:xfrm>
          <a:prstGeom prst="rect">
            <a:avLst/>
          </a:prstGeom>
          <a:solidFill>
            <a:srgbClr val="B041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85623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24437"/>
                </a:solidFill>
                <a:latin typeface="Aptos"/>
              </a:defRPr>
            </a:pPr>
            <a:r>
              <a:t>ACCESO SIN GAFAS 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258568"/>
            <a:ext cx="3108960" cy="11704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Se abre en el navegador del celular o computador, sin instalar una aplicación.</a:t>
            </a:r>
          </a:p>
        </p:txBody>
      </p:sp>
      <p:pic>
        <p:nvPicPr>
          <p:cNvPr id="17" name="Picture 16" descr="_crop_wide_ultra_detailed_photorealistic_scenic_landsc_525x2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22191"/>
            <a:ext cx="4800600" cy="208483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5715000" y="3822191"/>
            <a:ext cx="5833872" cy="2084831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4096512"/>
            <a:ext cx="5120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EDAE37"/>
                </a:solidFill>
                <a:latin typeface="Aptos"/>
              </a:defRPr>
            </a:pPr>
            <a:r>
              <a:t>REFERENTE CREATIVO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4517136"/>
            <a:ext cx="5029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100" b="1" i="0">
                <a:solidFill>
                  <a:srgbClr val="124437"/>
                </a:solidFill>
                <a:latin typeface="Aptos"/>
              </a:defRPr>
            </a:pPr>
            <a:r>
              <a:t>“Pregoneros de Medellín”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5010912"/>
            <a:ext cx="498348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0" i="0">
                <a:solidFill>
                  <a:srgbClr val="1F2F28"/>
                </a:solidFill>
                <a:latin typeface="Aptos"/>
              </a:defRPr>
            </a:pPr>
            <a:r>
              <a:t>Documental interactivo citado por el equipo como referente. “Próxima parada: Iguaque” lleva la lógica de explorar y descubrir al contexto de decisiones ambientales durante un viaje.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E6C63"/>
                </a:solidFill>
                <a:latin typeface="Aptos"/>
              </a:defRPr>
            </a:pPr>
            <a:r>
              <a:t>CREAMENTE DIGITAL  •  ZCBOY  •  CEAD TUNJA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EDAE37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109728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EDAE37"/>
                </a:solidFill>
                <a:latin typeface="Aptos"/>
              </a:defRPr>
            </a:pPr>
            <a:r>
              <a:t>08 · ESTADO DEL 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642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700" b="1" i="0">
                <a:solidFill>
                  <a:srgbClr val="082721"/>
                </a:solidFill>
                <a:latin typeface="Aptos"/>
              </a:defRPr>
            </a:pPr>
            <a:r>
              <a:t>Está construido para probar; el impacto aún debe medirse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0" i="0">
                <a:solidFill>
                  <a:srgbClr val="5E6C63"/>
                </a:solidFill>
                <a:latin typeface="Aptos"/>
              </a:defRPr>
            </a:pPr>
            <a:r>
              <a:t>Distinguimos lo que ya hace la demo de lo que se debe validar con personas usuarias.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19072"/>
            <a:ext cx="5230368" cy="1444752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19072"/>
            <a:ext cx="73152" cy="1444752"/>
          </a:xfrm>
          <a:prstGeom prst="rect">
            <a:avLst/>
          </a:prstGeom>
          <a:solidFill>
            <a:srgbClr val="195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883664"/>
            <a:ext cx="4864607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24437"/>
                </a:solidFill>
                <a:latin typeface="Aptos"/>
              </a:defRPr>
            </a:pPr>
            <a:r>
              <a:t>YA IMPLEMENTADO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286000"/>
            <a:ext cx="484632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F28"/>
                </a:solidFill>
                <a:latin typeface="Aptos"/>
              </a:defRPr>
            </a:pPr>
            <a:r>
              <a:t>Recorrido web; escenarios de tienda, bus, parada y páramo; hotspots; opciones; puntaje y tres estados visuales.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719072"/>
            <a:ext cx="5230368" cy="1444752"/>
          </a:xfrm>
          <a:prstGeom prst="roundRect">
            <a:avLst>
              <a:gd name="adj" fmla="val 8000"/>
            </a:avLst>
          </a:prstGeom>
          <a:solidFill>
            <a:srgbClr val="FF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719072"/>
            <a:ext cx="73152" cy="1444752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883664"/>
            <a:ext cx="4864607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700" b="1" i="0">
                <a:solidFill>
                  <a:srgbClr val="124437"/>
                </a:solidFill>
                <a:latin typeface="Aptos"/>
              </a:defRPr>
            </a:pPr>
            <a:r>
              <a:t>CONDUCTAS QUE BUSCA PROMOVER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286000"/>
            <a:ext cx="484632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1F2F28"/>
                </a:solidFill>
                <a:latin typeface="Aptos"/>
              </a:defRPr>
            </a:pPr>
            <a:r>
              <a:t>No abandonar residuos y reportar señales de fuego de forma responsable.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520440"/>
            <a:ext cx="10716768" cy="1463040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803904"/>
            <a:ext cx="4206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800" b="1" i="0">
                <a:solidFill>
                  <a:srgbClr val="EDAE37"/>
                </a:solidFill>
                <a:latin typeface="Aptos"/>
              </a:defRPr>
            </a:pPr>
            <a:r>
              <a:t>SIGUIENTE PASO: PRUEBA PILOTO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51960"/>
            <a:ext cx="97840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600" b="0" i="0">
                <a:solidFill>
                  <a:srgbClr val="FFFFFA"/>
                </a:solidFill>
                <a:latin typeface="Aptos"/>
              </a:defRPr>
            </a:pPr>
            <a:r>
              <a:t>Invitar a un grupo de turistas o estudiantes a recorrer la experiencia; comparar decisiones antes y después, comprensión del mensaje y recuerdo de los canales de reporte.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10515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5E6C63"/>
                </a:solidFill>
                <a:latin typeface="Aptos"/>
              </a:defRPr>
            </a:pPr>
            <a:r>
              <a:t>La efectividad sobre el comportamiento no se presenta como un resultado probado: es el objetivo de la siguiente validación.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37960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800" b="1" i="0">
                <a:solidFill>
                  <a:srgbClr val="5E6C63"/>
                </a:solidFill>
                <a:latin typeface="Aptos"/>
              </a:defRPr>
            </a:pPr>
            <a:r>
              <a:t>CREAMENTE DIGITAL  •  ZCBOY  •  CEAD TUNJA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EDAE37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7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_crop_wide_vibrant_realistic_outdoor_travel_road_scene_623x7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355080" y="0"/>
            <a:ext cx="91440" cy="6858000"/>
          </a:xfrm>
          <a:prstGeom prst="rect">
            <a:avLst/>
          </a:prstGeom>
          <a:solidFill>
            <a:srgbClr val="EDA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438912"/>
            <a:ext cx="54406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300" b="1" i="0">
                <a:solidFill>
                  <a:srgbClr val="EDAE37"/>
                </a:solidFill>
                <a:latin typeface="Aptos"/>
              </a:defRPr>
            </a:pPr>
            <a:r>
              <a:t>PRÓXIMA PARADA: IGUAQUE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97280"/>
            <a:ext cx="544068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2600" b="1" i="0">
                <a:solidFill>
                  <a:srgbClr val="FFFFFA"/>
                </a:solidFill>
                <a:latin typeface="Aptos"/>
              </a:defRPr>
            </a:pPr>
            <a:r>
              <a:t>No basta con llegar al paisaje.</a:t>
            </a:r>
          </a:p>
          <a:p>
            <a:pPr algn="l">
              <a:spcAft>
                <a:spcPts val="400"/>
              </a:spcAft>
              <a:defRPr sz="2600" b="1" i="0">
                <a:solidFill>
                  <a:srgbClr val="FFFFFA"/>
                </a:solidFill>
                <a:latin typeface="Aptos"/>
              </a:defRPr>
            </a:pPr>
            <a:r>
              <a:t>Hay que aprender a cuidarlo</a:t>
            </a:r>
          </a:p>
          <a:p>
            <a:pPr algn="l">
              <a:spcAft>
                <a:spcPts val="400"/>
              </a:spcAft>
              <a:defRPr sz="2600" b="1" i="0">
                <a:solidFill>
                  <a:srgbClr val="FFFFFA"/>
                </a:solidFill>
                <a:latin typeface="Aptos"/>
              </a:defRPr>
            </a:pPr>
            <a:r>
              <a:t>en el camino.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788920"/>
            <a:ext cx="5440680" cy="1325880"/>
          </a:xfrm>
          <a:prstGeom prst="roundRect">
            <a:avLst>
              <a:gd name="adj" fmla="val 8000"/>
            </a:avLst>
          </a:prstGeom>
          <a:solidFill>
            <a:srgbClr val="12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48463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EDAE37"/>
                </a:solidFill>
                <a:latin typeface="Aptos"/>
              </a:defRPr>
            </a:pPr>
            <a:r>
              <a:t>PETICIÓN AL JURADO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48006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500" b="0" i="0">
                <a:solidFill>
                  <a:srgbClr val="FFFFFA"/>
                </a:solidFill>
                <a:latin typeface="Aptos"/>
              </a:defRPr>
            </a:pPr>
            <a:r>
              <a:t>Facilitar una conexión con una institución educativa o actor ambiental para realizar una prueba piloto y medir qué decisiones aprende el público.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43484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300" b="1" i="0">
                <a:solidFill>
                  <a:srgbClr val="EDAE37"/>
                </a:solidFill>
                <a:latin typeface="Aptos"/>
              </a:defRPr>
            </a:pPr>
            <a:r>
              <a:t>EQUIPO CREAMENTE DIGITAL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828032"/>
            <a:ext cx="54406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200" b="0" i="0">
                <a:solidFill>
                  <a:srgbClr val="FFFFFA"/>
                </a:solidFill>
                <a:latin typeface="Aptos"/>
              </a:defRPr>
            </a:pPr>
            <a:r>
              <a:t>Adriana Fernanda González Guerrero · Docente, Ingeniería de Sistemas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A"/>
                </a:solidFill>
                <a:latin typeface="Aptos"/>
              </a:defRPr>
            </a:pPr>
            <a:r>
              <a:t>Andrés Felipe Morales Vega · Estudiante, Ingeniería de Sistemas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A"/>
                </a:solidFill>
                <a:latin typeface="Aptos"/>
              </a:defRPr>
            </a:pPr>
            <a:r>
              <a:t>Cesar David Monroy Rodríguez · Docente, Ingeniería Multimedia · Líder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172200"/>
            <a:ext cx="51206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400"/>
              </a:spcAft>
              <a:defRPr sz="1000" b="1" i="0">
                <a:solidFill>
                  <a:srgbClr val="C3D4CA"/>
                </a:solidFill>
                <a:latin typeface="Aptos"/>
              </a:defRPr>
            </a:pPr>
            <a:r>
              <a:t>ZCBOY · CEAD Tunja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400"/>
              </a:spcAft>
              <a:defRPr sz="900" b="1" i="0">
                <a:solidFill>
                  <a:srgbClr val="FFFFF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Próxima parada: Iguaque — Presentación para socialización con jurados</dc:title>
  <dc:subject>Maratón de Innovación en Narrativas Digitales 2026 · CreaMente Digital</dc:subject>
  <dc:creator>CreaMente Digital · ZCBOY · CEAD Tunja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